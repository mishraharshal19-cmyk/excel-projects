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7562088" cy="10689336"/>
  <p:notesSz cx="10689336" cy="7562088"/>
  <p:embeddedFontLst>
    <p:embeddedFont>
      <p:font typeface="Bricolage Grotesque Bold"/>
      <p:regular r:id="rId201314"/>
    </p:embeddedFont>
    <p:embeddedFont>
      <p:font typeface="IBM Plex Mono"/>
      <p:regular r:id="rId201315"/>
    </p:embeddedFont>
    <p:embeddedFont>
      <p:font typeface="IBM Plex Mono Medium"/>
      <p:regular r:id="rId201316"/>
    </p:embeddedFont>
    <p:embeddedFont>
      <p:font typeface="IBM Plex Mono SemiBold"/>
      <p:regular r:id="rId201317"/>
    </p:embeddedFont>
    <p:embeddedFont>
      <p:font typeface="IBM Plex Mono Bold"/>
      <p:regular r:id="rId201318"/>
    </p:embeddedFont>
    <p:embeddedFont>
      <p:font typeface="IBM Plex Sans"/>
      <p:regular r:id="rId201319"/>
    </p:embeddedFont>
    <p:embeddedFont>
      <p:font typeface="IBM Plex Sans SemiBold"/>
      <p:regular r:id="rId201320"/>
    </p:embeddedFont>
    <p:embeddedFont>
      <p:font typeface="IBM Plex Sans 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D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245C43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7268" y="10390327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D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7268" y="10390327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4" y="3340725"/>
            <a:ext cx="7025825" cy="15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108" kern="100" dirty="0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STAKEHOLDER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184" y="3574271"/>
            <a:ext cx="6647720" cy="2590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800" b="1" spc="-204" kern="100" dirty="0">
                <a:solidFill>
                  <a:srgbClr val="FFFFF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Customer Support</a:t>
            </a:r>
            <a:endParaRPr lang="en-US" sz="68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6800" b="1" spc="-204" kern="100" dirty="0">
                <a:solidFill>
                  <a:srgbClr val="FFFFF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Data Report</a:t>
            </a:r>
            <a:endParaRPr lang="en-US" sz="6800" dirty="0"/>
          </a:p>
        </p:txBody>
      </p:sp>
      <p:sp>
        <p:nvSpPr>
          <p:cNvPr id="4" name="Shape 2"/>
          <p:cNvSpPr/>
          <p:nvPr/>
        </p:nvSpPr>
        <p:spPr>
          <a:xfrm>
            <a:off x="457184" y="6400026"/>
            <a:ext cx="177729" cy="47263"/>
          </a:xfrm>
          <a:prstGeom prst="roundRect">
            <a:avLst>
              <a:gd name="adj" fmla="val 50000"/>
            </a:avLst>
          </a:prstGeom>
          <a:solidFill>
            <a:srgbClr val="245C43"/>
          </a:solidFill>
          <a:ln/>
        </p:spPr>
      </p:sp>
      <p:sp>
        <p:nvSpPr>
          <p:cNvPr id="5" name="Text 3"/>
          <p:cNvSpPr/>
          <p:nvPr/>
        </p:nvSpPr>
        <p:spPr>
          <a:xfrm>
            <a:off x="457184" y="6663419"/>
            <a:ext cx="6647720" cy="507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Customer-support dashboard, readable metrics, segmentation signals, and data-quality implications.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184" y="10054423"/>
            <a:ext cx="7025825" cy="177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10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 support data / dashboard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4" y="457184"/>
            <a:ext cx="7025825" cy="15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108" kern="100" dirty="0">
                <a:solidFill>
                  <a:srgbClr val="245C43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EXECUTIVE READOUT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184" y="690730"/>
            <a:ext cx="6647720" cy="180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300" b="1" spc="-129" kern="100" dirty="0">
                <a:solidFill>
                  <a:srgbClr val="15251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The dashboard shows a 600-customer support dataset</a:t>
            </a:r>
            <a:endParaRPr lang="en-US" sz="4300" dirty="0"/>
          </a:p>
        </p:txBody>
      </p:sp>
      <p:sp>
        <p:nvSpPr>
          <p:cNvPr id="4" name="Shape 2"/>
          <p:cNvSpPr/>
          <p:nvPr/>
        </p:nvSpPr>
        <p:spPr>
          <a:xfrm>
            <a:off x="457184" y="2727782"/>
            <a:ext cx="177729" cy="47263"/>
          </a:xfrm>
          <a:prstGeom prst="roundRect">
            <a:avLst>
              <a:gd name="adj" fmla="val 50000"/>
            </a:avLst>
          </a:prstGeom>
          <a:solidFill>
            <a:srgbClr val="245C43"/>
          </a:solidFill>
          <a:ln/>
        </p:spPr>
      </p:sp>
      <p:sp>
        <p:nvSpPr>
          <p:cNvPr id="5" name="Text 3"/>
          <p:cNvSpPr/>
          <p:nvPr/>
        </p:nvSpPr>
        <p:spPr>
          <a:xfrm>
            <a:off x="457184" y="2991175"/>
            <a:ext cx="6647720" cy="450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283A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dashboard reports 600 customer records and a total purchase amount of 21,952.55. It also surfaces aggregate product-rating and brand-loyalty measures of 2,025 and 2,026 respectively.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184" y="3619934"/>
            <a:ext cx="2012741" cy="1854092"/>
          </a:xfrm>
          <a:prstGeom prst="rect">
            <a:avLst/>
          </a:prstGeom>
          <a:solidFill>
            <a:srgbClr val="E0E3DA"/>
          </a:solidFill>
          <a:ln/>
        </p:spPr>
      </p:sp>
      <p:sp>
        <p:nvSpPr>
          <p:cNvPr id="7" name="Text 5"/>
          <p:cNvSpPr/>
          <p:nvPr/>
        </p:nvSpPr>
        <p:spPr>
          <a:xfrm>
            <a:off x="660329" y="3823080"/>
            <a:ext cx="1809596" cy="177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10" kern="100" dirty="0">
                <a:solidFill>
                  <a:srgbClr val="283A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 RECORDS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0329" y="4178660"/>
            <a:ext cx="1606451" cy="54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300" b="1" spc="-151" kern="100" dirty="0">
                <a:solidFill>
                  <a:srgbClr val="283A32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600</a:t>
            </a:r>
            <a:endParaRPr lang="en-US" sz="4300" dirty="0"/>
          </a:p>
        </p:txBody>
      </p:sp>
      <p:sp>
        <p:nvSpPr>
          <p:cNvPr id="9" name="Shape 7"/>
          <p:cNvSpPr/>
          <p:nvPr/>
        </p:nvSpPr>
        <p:spPr>
          <a:xfrm>
            <a:off x="2774612" y="3619934"/>
            <a:ext cx="2012803" cy="1854092"/>
          </a:xfrm>
          <a:prstGeom prst="rect">
            <a:avLst/>
          </a:prstGeom>
          <a:solidFill>
            <a:srgbClr val="E0E3DA"/>
          </a:solidFill>
          <a:ln/>
        </p:spPr>
      </p:sp>
      <p:sp>
        <p:nvSpPr>
          <p:cNvPr id="10" name="Text 8"/>
          <p:cNvSpPr/>
          <p:nvPr/>
        </p:nvSpPr>
        <p:spPr>
          <a:xfrm>
            <a:off x="2977757" y="3823080"/>
            <a:ext cx="1809658" cy="177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10" kern="100" dirty="0">
                <a:solidFill>
                  <a:srgbClr val="283A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 PURCHASE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77757" y="4178660"/>
            <a:ext cx="1606513" cy="109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300" b="1" spc="-151" kern="100" dirty="0">
                <a:solidFill>
                  <a:srgbClr val="283A32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21,952.55</a:t>
            </a:r>
            <a:endParaRPr lang="en-US" sz="4300" dirty="0"/>
          </a:p>
        </p:txBody>
      </p:sp>
      <p:sp>
        <p:nvSpPr>
          <p:cNvPr id="12" name="Shape 10"/>
          <p:cNvSpPr/>
          <p:nvPr/>
        </p:nvSpPr>
        <p:spPr>
          <a:xfrm>
            <a:off x="5092101" y="3619934"/>
            <a:ext cx="2012741" cy="1854092"/>
          </a:xfrm>
          <a:prstGeom prst="rect">
            <a:avLst/>
          </a:prstGeom>
          <a:solidFill>
            <a:srgbClr val="E0E3DA"/>
          </a:solidFill>
          <a:ln/>
        </p:spPr>
      </p:sp>
      <p:sp>
        <p:nvSpPr>
          <p:cNvPr id="13" name="Text 11"/>
          <p:cNvSpPr/>
          <p:nvPr/>
        </p:nvSpPr>
        <p:spPr>
          <a:xfrm>
            <a:off x="5295246" y="3823080"/>
            <a:ext cx="1809596" cy="177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10" kern="100" dirty="0">
                <a:solidFill>
                  <a:srgbClr val="283A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 RATING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95246" y="4178660"/>
            <a:ext cx="1606451" cy="54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300" b="1" spc="-151" kern="100" dirty="0">
                <a:solidFill>
                  <a:srgbClr val="283A32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2,025</a:t>
            </a:r>
            <a:endParaRPr lang="en-US" sz="4300" dirty="0"/>
          </a:p>
        </p:txBody>
      </p:sp>
      <p:sp>
        <p:nvSpPr>
          <p:cNvPr id="15" name="Text 13"/>
          <p:cNvSpPr/>
          <p:nvPr/>
        </p:nvSpPr>
        <p:spPr>
          <a:xfrm>
            <a:off x="457184" y="5853731"/>
            <a:ext cx="573188" cy="152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spc="48" kern="100" dirty="0">
                <a:solidFill>
                  <a:srgbClr val="245C43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41" y="5804191"/>
            <a:ext cx="6300263" cy="27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-9" kern="100" dirty="0">
                <a:solidFill>
                  <a:srgbClr val="15251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Directional segmentation analysis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4641" y="6221374"/>
            <a:ext cx="6300263" cy="225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283A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volume is large enough for directional segmentation analysis.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184" y="6801147"/>
            <a:ext cx="573188" cy="152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spc="48" kern="100" dirty="0">
                <a:solidFill>
                  <a:srgbClr val="245C43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41" y="6751607"/>
            <a:ext cx="6300263" cy="27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-9" kern="100" dirty="0">
                <a:solidFill>
                  <a:srgbClr val="15251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Primary performance lens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4641" y="7168790"/>
            <a:ext cx="6300263" cy="225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283A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Purchase value, product rating, and brand loyalty are presented together.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184" y="7748562"/>
            <a:ext cx="573188" cy="152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spc="48" kern="100" dirty="0">
                <a:solidFill>
                  <a:srgbClr val="245C43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41" y="7699022"/>
            <a:ext cx="6300263" cy="27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-9" kern="100" dirty="0">
                <a:solidFill>
                  <a:srgbClr val="15251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Visible demographic cut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4641" y="8116205"/>
            <a:ext cx="6300263" cy="225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283A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Education is one visible demographic cut, with Bachelor's as the largest readable segment.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10232152"/>
            <a:ext cx="7562088" cy="9477"/>
          </a:xfrm>
          <a:prstGeom prst="rect">
            <a:avLst/>
          </a:prstGeom>
          <a:solidFill>
            <a:srgbClr val="283A32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7184" y="10381818"/>
            <a:ext cx="2498418" cy="157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spc="92" kern="100" dirty="0">
                <a:solidFill>
                  <a:srgbClr val="5F6D6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 SUPPORT DATA REPORT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01941" y="10381818"/>
            <a:ext cx="681006" cy="157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spc="92" kern="100" dirty="0">
                <a:solidFill>
                  <a:srgbClr val="5F6D6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184" y="6595294"/>
            <a:ext cx="6647720" cy="7877"/>
          </a:xfrm>
          <a:prstGeom prst="rect">
            <a:avLst/>
          </a:prstGeom>
          <a:solidFill>
            <a:srgbClr val="15251F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57184" y="7542709"/>
            <a:ext cx="6647720" cy="7877"/>
          </a:xfrm>
          <a:prstGeom prst="rect">
            <a:avLst/>
          </a:prstGeom>
          <a:solidFill>
            <a:srgbClr val="15251F">
              <a:alpha val="28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4" y="457184"/>
            <a:ext cx="7025825" cy="15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108" kern="100" dirty="0">
                <a:solidFill>
                  <a:srgbClr val="245C43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SEGMENTATION SIGNAL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184" y="690730"/>
            <a:ext cx="6647720" cy="180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300" b="1" spc="-129" kern="100" dirty="0">
                <a:solidFill>
                  <a:srgbClr val="15251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Bachelor’s customers are the largest readable education segment</a:t>
            </a:r>
            <a:endParaRPr lang="en-US" sz="4300" dirty="0"/>
          </a:p>
        </p:txBody>
      </p:sp>
      <p:sp>
        <p:nvSpPr>
          <p:cNvPr id="4" name="Shape 2"/>
          <p:cNvSpPr/>
          <p:nvPr/>
        </p:nvSpPr>
        <p:spPr>
          <a:xfrm>
            <a:off x="457184" y="2727782"/>
            <a:ext cx="177729" cy="47263"/>
          </a:xfrm>
          <a:prstGeom prst="roundRect">
            <a:avLst>
              <a:gd name="adj" fmla="val 50000"/>
            </a:avLst>
          </a:prstGeom>
          <a:solidFill>
            <a:srgbClr val="245C43"/>
          </a:solidFill>
          <a:ln/>
        </p:spPr>
      </p:sp>
      <p:sp>
        <p:nvSpPr>
          <p:cNvPr id="5" name="Text 3"/>
          <p:cNvSpPr/>
          <p:nvPr/>
        </p:nvSpPr>
        <p:spPr>
          <a:xfrm>
            <a:off x="457184" y="2991175"/>
            <a:ext cx="6647720" cy="507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50" dirty="0">
                <a:solidFill>
                  <a:srgbClr val="283A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education chart shows Bachelor's at 48% and High School at 26%; the remaining segments are not legible in the supplied image.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184" y="3676429"/>
            <a:ext cx="3171486" cy="2039513"/>
          </a:xfrm>
          <a:prstGeom prst="rect">
            <a:avLst/>
          </a:prstGeom>
          <a:solidFill>
            <a:srgbClr val="245C43"/>
          </a:solidFill>
          <a:ln/>
        </p:spPr>
      </p:sp>
      <p:sp>
        <p:nvSpPr>
          <p:cNvPr id="7" name="Text 5"/>
          <p:cNvSpPr/>
          <p:nvPr/>
        </p:nvSpPr>
        <p:spPr>
          <a:xfrm>
            <a:off x="711161" y="3981177"/>
            <a:ext cx="2917509" cy="177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10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READABLE EDUCATION SEGMENT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1161" y="4336758"/>
            <a:ext cx="2663531" cy="68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400" b="1" spc="-162" kern="100" dirty="0">
                <a:solidFill>
                  <a:srgbClr val="FFFFF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48%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11161" y="5136846"/>
            <a:ext cx="2663531" cy="27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-18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Bachelor's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933418" y="3676429"/>
            <a:ext cx="3171486" cy="2039513"/>
          </a:xfrm>
          <a:prstGeom prst="rect">
            <a:avLst/>
          </a:prstGeom>
          <a:solidFill>
            <a:srgbClr val="E0E3DA"/>
          </a:solidFill>
          <a:ln/>
        </p:spPr>
      </p:sp>
      <p:sp>
        <p:nvSpPr>
          <p:cNvPr id="11" name="Text 9"/>
          <p:cNvSpPr/>
          <p:nvPr/>
        </p:nvSpPr>
        <p:spPr>
          <a:xfrm>
            <a:off x="4187395" y="3981177"/>
            <a:ext cx="2917509" cy="177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10" kern="100" dirty="0">
                <a:solidFill>
                  <a:srgbClr val="283A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READABLE EDUCATION SEGMENT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87395" y="4336758"/>
            <a:ext cx="2663531" cy="68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400" b="1" spc="-162" kern="100" dirty="0">
                <a:solidFill>
                  <a:srgbClr val="283A32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26%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4187395" y="5136846"/>
            <a:ext cx="2663531" cy="27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-18" kern="100" dirty="0">
                <a:solidFill>
                  <a:srgbClr val="283A32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High School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1161" y="6198481"/>
            <a:ext cx="6139766" cy="391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b="1" spc="-84" kern="100" dirty="0">
                <a:solidFill>
                  <a:srgbClr val="15251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Implication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11161" y="6786377"/>
            <a:ext cx="6139766" cy="67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283A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Education appears to be a meaningful segmentation variable, but the full distribution should be confirmed from the underlying data before making targeting or service decisions.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184" y="7869182"/>
            <a:ext cx="7025825" cy="177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10" kern="100" dirty="0">
                <a:solidFill>
                  <a:srgbClr val="5F6D6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remaining education segments are not legible in the supplied image.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10232152"/>
            <a:ext cx="7562088" cy="9477"/>
          </a:xfrm>
          <a:prstGeom prst="rect">
            <a:avLst/>
          </a:prstGeom>
          <a:solidFill>
            <a:srgbClr val="283A32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7184" y="10381818"/>
            <a:ext cx="2498418" cy="157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spc="92" kern="100" dirty="0">
                <a:solidFill>
                  <a:srgbClr val="5F6D6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 SUPPORT DATA REPORT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01941" y="10381818"/>
            <a:ext cx="681006" cy="157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spc="92" kern="100" dirty="0">
                <a:solidFill>
                  <a:srgbClr val="5F6D6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4" y="457184"/>
            <a:ext cx="7025825" cy="15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108" kern="100" dirty="0">
                <a:solidFill>
                  <a:srgbClr val="245C43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DASHBOARD 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184" y="690730"/>
            <a:ext cx="6647720" cy="180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300" b="1" spc="-129" kern="100" dirty="0">
                <a:solidFill>
                  <a:srgbClr val="15251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The dashboard combines customer, product, and loyalty views</a:t>
            </a:r>
            <a:endParaRPr lang="en-US" sz="4300" dirty="0"/>
          </a:p>
        </p:txBody>
      </p:sp>
      <p:sp>
        <p:nvSpPr>
          <p:cNvPr id="4" name="Shape 2"/>
          <p:cNvSpPr/>
          <p:nvPr/>
        </p:nvSpPr>
        <p:spPr>
          <a:xfrm>
            <a:off x="457184" y="2727782"/>
            <a:ext cx="177729" cy="47263"/>
          </a:xfrm>
          <a:prstGeom prst="roundRect">
            <a:avLst>
              <a:gd name="adj" fmla="val 50000"/>
            </a:avLst>
          </a:prstGeom>
          <a:solidFill>
            <a:srgbClr val="245C43"/>
          </a:solidFill>
          <a:ln/>
        </p:spPr>
      </p:sp>
      <p:sp>
        <p:nvSpPr>
          <p:cNvPr id="5" name="Text 3"/>
          <p:cNvSpPr/>
          <p:nvPr/>
        </p:nvSpPr>
        <p:spPr>
          <a:xfrm>
            <a:off x="457184" y="2991175"/>
            <a:ext cx="6647720" cy="76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50" dirty="0">
                <a:solidFill>
                  <a:srgbClr val="283A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Visible controls and charts indicate cuts by product class and customer attributes, including filters labeled for Men, Med, and Best, alongside comparative totals and demographic visuals.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4" y="3930160"/>
            <a:ext cx="380997" cy="3809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184" y="4425438"/>
            <a:ext cx="1911138" cy="27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-18" kern="100" dirty="0">
                <a:solidFill>
                  <a:srgbClr val="15251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Customer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184" y="4842621"/>
            <a:ext cx="1911138" cy="90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283A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totals and demographic visuals support category comparisons.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444" y="3930160"/>
            <a:ext cx="380997" cy="3809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25444" y="4425438"/>
            <a:ext cx="1911138" cy="27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-18" kern="100" dirty="0">
                <a:solidFill>
                  <a:srgbClr val="15251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Product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2825444" y="4842621"/>
            <a:ext cx="1911138" cy="67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283A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Product-class filters include labels such as Men, Med, and Best.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05" y="3930160"/>
            <a:ext cx="380997" cy="3809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93705" y="4425438"/>
            <a:ext cx="1911138" cy="27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-18" kern="100" dirty="0">
                <a:solidFill>
                  <a:srgbClr val="15251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Loyalty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5193705" y="4842621"/>
            <a:ext cx="1911138" cy="67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283A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Purchase activity can be read alongside product ratings and brand loyalty.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184" y="6100139"/>
            <a:ext cx="6647720" cy="391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b="1" spc="-84" kern="100" dirty="0">
                <a:solidFill>
                  <a:srgbClr val="15251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What this enables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457184" y="6877272"/>
            <a:ext cx="573188" cy="152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spc="48" kern="100" dirty="0">
                <a:solidFill>
                  <a:srgbClr val="245C43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04641" y="6827732"/>
            <a:ext cx="6300263" cy="27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-9" kern="100" dirty="0">
                <a:solidFill>
                  <a:srgbClr val="15251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Compare customer totals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04641" y="7244915"/>
            <a:ext cx="6300263" cy="225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283A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customer totals across categories.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184" y="7799333"/>
            <a:ext cx="573188" cy="152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spc="48" kern="100" dirty="0">
                <a:solidFill>
                  <a:srgbClr val="245C43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04641" y="7749793"/>
            <a:ext cx="6300263" cy="27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-9" kern="100" dirty="0">
                <a:solidFill>
                  <a:srgbClr val="15251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Relate performance measures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04641" y="8166976"/>
            <a:ext cx="6300263" cy="225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283A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Relate purchase activity to product ratings and brand loyalty.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184" y="8721394"/>
            <a:ext cx="573188" cy="152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spc="48" kern="100" dirty="0">
                <a:solidFill>
                  <a:srgbClr val="245C43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04641" y="8671854"/>
            <a:ext cx="6300263" cy="27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-9" kern="100" dirty="0">
                <a:solidFill>
                  <a:srgbClr val="15251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Explore segment mix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04641" y="9089037"/>
            <a:ext cx="6300263" cy="225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283A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Explore whether segment mix changes across product or customer filters.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0" y="10232152"/>
            <a:ext cx="7562088" cy="9477"/>
          </a:xfrm>
          <a:prstGeom prst="rect">
            <a:avLst/>
          </a:prstGeom>
          <a:solidFill>
            <a:srgbClr val="283A32">
              <a:alpha val="20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457184" y="10381818"/>
            <a:ext cx="2498418" cy="157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spc="92" kern="100" dirty="0">
                <a:solidFill>
                  <a:srgbClr val="5F6D6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 SUPPORT DATA REPORT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6801941" y="10381818"/>
            <a:ext cx="681006" cy="157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spc="92" kern="100" dirty="0">
                <a:solidFill>
                  <a:srgbClr val="5F6D6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457184" y="7606158"/>
            <a:ext cx="6647720" cy="7877"/>
          </a:xfrm>
          <a:prstGeom prst="rect">
            <a:avLst/>
          </a:prstGeom>
          <a:solidFill>
            <a:srgbClr val="15251F">
              <a:alpha val="28000"/>
            </a:srgbClr>
          </a:solidFill>
          <a:ln/>
        </p:spPr>
      </p:sp>
      <p:sp>
        <p:nvSpPr>
          <p:cNvPr id="29" name="Shape 24"/>
          <p:cNvSpPr/>
          <p:nvPr/>
        </p:nvSpPr>
        <p:spPr>
          <a:xfrm>
            <a:off x="457184" y="8528219"/>
            <a:ext cx="6647720" cy="7877"/>
          </a:xfrm>
          <a:prstGeom prst="rect">
            <a:avLst/>
          </a:prstGeom>
          <a:solidFill>
            <a:srgbClr val="15251F">
              <a:alpha val="28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4" y="457184"/>
            <a:ext cx="7025825" cy="15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108" kern="100" dirty="0">
                <a:solidFill>
                  <a:srgbClr val="245C43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DATA QUALITY NOTE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184" y="690730"/>
            <a:ext cx="6647720" cy="180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300" b="1" spc="-129" kern="100" dirty="0">
                <a:solidFill>
                  <a:srgbClr val="15251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Readable KPIs are useful; chart-level decisions need the source data</a:t>
            </a:r>
            <a:endParaRPr lang="en-US" sz="4300" dirty="0"/>
          </a:p>
        </p:txBody>
      </p:sp>
      <p:sp>
        <p:nvSpPr>
          <p:cNvPr id="4" name="Shape 2"/>
          <p:cNvSpPr/>
          <p:nvPr/>
        </p:nvSpPr>
        <p:spPr>
          <a:xfrm>
            <a:off x="457184" y="2727782"/>
            <a:ext cx="177729" cy="47263"/>
          </a:xfrm>
          <a:prstGeom prst="roundRect">
            <a:avLst>
              <a:gd name="adj" fmla="val 50000"/>
            </a:avLst>
          </a:prstGeom>
          <a:solidFill>
            <a:srgbClr val="245C43"/>
          </a:solidFill>
          <a:ln/>
        </p:spPr>
      </p:sp>
      <p:sp>
        <p:nvSpPr>
          <p:cNvPr id="5" name="Text 3"/>
          <p:cNvSpPr/>
          <p:nvPr/>
        </p:nvSpPr>
        <p:spPr>
          <a:xfrm>
            <a:off x="457184" y="3149888"/>
            <a:ext cx="6647720" cy="391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b="1" spc="-84" kern="100" dirty="0">
                <a:solidFill>
                  <a:srgbClr val="15251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Data-quality note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184" y="3737784"/>
            <a:ext cx="6647720" cy="450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283A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supplied dashboard image is too low-resolution to verify individual bar heights, axis labels, or the remaining education slices. Those values should not be treated as exact from this report.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184" y="4366544"/>
            <a:ext cx="3095237" cy="1781105"/>
          </a:xfrm>
          <a:prstGeom prst="rect">
            <a:avLst/>
          </a:prstGeom>
          <a:solidFill>
            <a:srgbClr val="E0E3DA"/>
          </a:solidFill>
          <a:ln/>
        </p:spPr>
      </p:sp>
      <p:sp>
        <p:nvSpPr>
          <p:cNvPr id="8" name="Text 6"/>
          <p:cNvSpPr/>
          <p:nvPr/>
        </p:nvSpPr>
        <p:spPr>
          <a:xfrm>
            <a:off x="685745" y="4595105"/>
            <a:ext cx="2866676" cy="177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10" kern="100" dirty="0">
                <a:solidFill>
                  <a:srgbClr val="283A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VERIFIED DASHBOARD SIGNAL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745" y="4950686"/>
            <a:ext cx="2638115" cy="54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300" b="1" spc="-151" kern="100" dirty="0">
                <a:solidFill>
                  <a:srgbClr val="283A32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600</a:t>
            </a:r>
            <a:endParaRPr lang="en-US" sz="4300" dirty="0"/>
          </a:p>
        </p:txBody>
      </p:sp>
      <p:sp>
        <p:nvSpPr>
          <p:cNvPr id="10" name="Text 8"/>
          <p:cNvSpPr/>
          <p:nvPr/>
        </p:nvSpPr>
        <p:spPr>
          <a:xfrm>
            <a:off x="685745" y="5693603"/>
            <a:ext cx="2866676" cy="225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283A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records reported.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09605" y="4366544"/>
            <a:ext cx="3095299" cy="1781105"/>
          </a:xfrm>
          <a:prstGeom prst="rect">
            <a:avLst/>
          </a:prstGeom>
          <a:solidFill>
            <a:srgbClr val="E0E3DA"/>
          </a:solidFill>
          <a:ln/>
        </p:spPr>
      </p:sp>
      <p:sp>
        <p:nvSpPr>
          <p:cNvPr id="12" name="Text 10"/>
          <p:cNvSpPr/>
          <p:nvPr/>
        </p:nvSpPr>
        <p:spPr>
          <a:xfrm>
            <a:off x="4238166" y="4595105"/>
            <a:ext cx="2866738" cy="177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10" kern="100" dirty="0">
                <a:solidFill>
                  <a:srgbClr val="283A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READABLE SEGMENT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38166" y="4950686"/>
            <a:ext cx="2638177" cy="54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300" b="1" spc="-151" kern="100" dirty="0">
                <a:solidFill>
                  <a:srgbClr val="283A32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48%</a:t>
            </a:r>
            <a:endParaRPr lang="en-US" sz="4300" dirty="0"/>
          </a:p>
        </p:txBody>
      </p:sp>
      <p:sp>
        <p:nvSpPr>
          <p:cNvPr id="14" name="Text 12"/>
          <p:cNvSpPr/>
          <p:nvPr/>
        </p:nvSpPr>
        <p:spPr>
          <a:xfrm>
            <a:off x="4238166" y="5693603"/>
            <a:ext cx="2866738" cy="225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283A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Bachelor's customers.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184" y="6300022"/>
            <a:ext cx="6647720" cy="391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b="1" spc="-84" kern="100" dirty="0">
                <a:solidFill>
                  <a:srgbClr val="15251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Recommended next step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184" y="7089833"/>
            <a:ext cx="573188" cy="152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spc="48" kern="100" dirty="0">
                <a:solidFill>
                  <a:srgbClr val="245C43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41" y="7040293"/>
            <a:ext cx="6300263" cy="27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-9" kern="100" dirty="0">
                <a:solidFill>
                  <a:srgbClr val="15251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Export at full resolution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4641" y="7457476"/>
            <a:ext cx="6300263" cy="225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283A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the dashboard or underlying table at full resolution.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184" y="8037249"/>
            <a:ext cx="573188" cy="152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spc="48" kern="100" dirty="0">
                <a:solidFill>
                  <a:srgbClr val="245C43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41" y="7987709"/>
            <a:ext cx="6300263" cy="27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-9" kern="100" dirty="0">
                <a:solidFill>
                  <a:srgbClr val="15251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Validate definitions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4641" y="8404892"/>
            <a:ext cx="6300263" cy="225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283A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Validate the KPI definitions, especially the rating and loyalty totals.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184" y="8984665"/>
            <a:ext cx="573188" cy="152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spc="48" kern="100" dirty="0">
                <a:solidFill>
                  <a:srgbClr val="245C43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41" y="8935124"/>
            <a:ext cx="6300263" cy="27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-9" kern="100" dirty="0">
                <a:solidFill>
                  <a:srgbClr val="15251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Calculate segment comparisons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4641" y="9352307"/>
            <a:ext cx="6300263" cy="225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00" dirty="0">
                <a:solidFill>
                  <a:srgbClr val="283A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calculate segment-level purchase, rating, and loyalty comparisons.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184" y="9907956"/>
            <a:ext cx="7025825" cy="177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spc="10" kern="100" dirty="0">
                <a:solidFill>
                  <a:srgbClr val="5F6D6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 the source data before treating unreadable chart elements as exact.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10232152"/>
            <a:ext cx="7562088" cy="9477"/>
          </a:xfrm>
          <a:prstGeom prst="rect">
            <a:avLst/>
          </a:prstGeom>
          <a:solidFill>
            <a:srgbClr val="283A32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7184" y="10381818"/>
            <a:ext cx="2498418" cy="157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spc="92" kern="100" dirty="0">
                <a:solidFill>
                  <a:srgbClr val="5F6D6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 SUPPORT DATA REPORT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01941" y="10381818"/>
            <a:ext cx="681006" cy="157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spc="92" kern="100" dirty="0">
                <a:solidFill>
                  <a:srgbClr val="5F6D6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184" y="7831396"/>
            <a:ext cx="6647720" cy="7877"/>
          </a:xfrm>
          <a:prstGeom prst="rect">
            <a:avLst/>
          </a:prstGeom>
          <a:solidFill>
            <a:srgbClr val="15251F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7184" y="8778812"/>
            <a:ext cx="6647720" cy="7877"/>
          </a:xfrm>
          <a:prstGeom prst="rect">
            <a:avLst/>
          </a:prstGeom>
          <a:solidFill>
            <a:srgbClr val="15251F">
              <a:alpha val="28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2026-10-03T18:18:55Z</dcterms:created>
  <dcterms:modified xsi:type="dcterms:W3CDTF">2026-10-03T18:18:55Z</dcterms:modified>
</cp:coreProperties>
</file>